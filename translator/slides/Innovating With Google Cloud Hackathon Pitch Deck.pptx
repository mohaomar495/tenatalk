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Poppins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italic.fntdata"/><Relationship Id="rId21" Type="http://schemas.openxmlformats.org/officeDocument/2006/relationships/font" Target="fonts/PoppinsMedium-bold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PoppinsMedium-bold.fntdata"/><Relationship Id="rId18" Type="http://schemas.openxmlformats.org/officeDocument/2006/relationships/font" Target="fonts/Poppi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0b49220e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a0b49220ea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a04519e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a04519e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6c614f0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b6c614f0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b6c614f0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b6c614f0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b6c614f0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b6c614f0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37e9597dc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437e9597dc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8533" y="-66675"/>
            <a:ext cx="9262534" cy="52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8525" y="-105825"/>
            <a:ext cx="9332124" cy="52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8533" y="-66675"/>
            <a:ext cx="9262534" cy="52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X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73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/>
          <p:nvPr/>
        </p:nvSpPr>
        <p:spPr>
          <a:xfrm>
            <a:off x="0" y="-6822"/>
            <a:ext cx="9144000" cy="51504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9"/>
          <p:cNvSpPr/>
          <p:nvPr/>
        </p:nvSpPr>
        <p:spPr>
          <a:xfrm>
            <a:off x="1143000" y="-6822"/>
            <a:ext cx="8001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9"/>
          <p:cNvSpPr/>
          <p:nvPr/>
        </p:nvSpPr>
        <p:spPr>
          <a:xfrm>
            <a:off x="-1" y="4626428"/>
            <a:ext cx="4312200" cy="5172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9"/>
          <p:cNvSpPr/>
          <p:nvPr/>
        </p:nvSpPr>
        <p:spPr>
          <a:xfrm>
            <a:off x="4312112" y="4626428"/>
            <a:ext cx="1154100" cy="5172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9"/>
          <p:cNvSpPr/>
          <p:nvPr/>
        </p:nvSpPr>
        <p:spPr>
          <a:xfrm>
            <a:off x="-9206" y="-6825"/>
            <a:ext cx="1881600" cy="8037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2">
            <a:alphaModFix amt="4000"/>
          </a:blip>
          <a:srcRect b="9938" l="0" r="0" t="15278"/>
          <a:stretch/>
        </p:blipFill>
        <p:spPr>
          <a:xfrm>
            <a:off x="7706" y="785813"/>
            <a:ext cx="9144003" cy="3846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/>
          <p:nvPr/>
        </p:nvSpPr>
        <p:spPr>
          <a:xfrm>
            <a:off x="0" y="-6822"/>
            <a:ext cx="9144000" cy="51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0"/>
          <p:cNvSpPr/>
          <p:nvPr/>
        </p:nvSpPr>
        <p:spPr>
          <a:xfrm>
            <a:off x="0" y="-6822"/>
            <a:ext cx="9144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0"/>
          <p:cNvSpPr/>
          <p:nvPr/>
        </p:nvSpPr>
        <p:spPr>
          <a:xfrm>
            <a:off x="-9206" y="-6822"/>
            <a:ext cx="2115600" cy="7944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30"/>
          <p:cNvPicPr preferRelativeResize="0"/>
          <p:nvPr/>
        </p:nvPicPr>
        <p:blipFill rotWithShape="1">
          <a:blip r:embed="rId2">
            <a:alphaModFix amt="4000"/>
          </a:blip>
          <a:srcRect b="0" l="0" r="0" t="15275"/>
          <a:stretch/>
        </p:blipFill>
        <p:spPr>
          <a:xfrm>
            <a:off x="7706" y="785813"/>
            <a:ext cx="9144003" cy="43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Slide">
  <p:cSld name="7_Title 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1"/>
          <p:cNvSpPr/>
          <p:nvPr/>
        </p:nvSpPr>
        <p:spPr>
          <a:xfrm>
            <a:off x="0" y="-1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1"/>
          <p:cNvSpPr/>
          <p:nvPr/>
        </p:nvSpPr>
        <p:spPr>
          <a:xfrm>
            <a:off x="0" y="-6822"/>
            <a:ext cx="9144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 amt="4000"/>
          </a:blip>
          <a:srcRect b="0" l="0" r="0" t="15275"/>
          <a:stretch/>
        </p:blipFill>
        <p:spPr>
          <a:xfrm>
            <a:off x="7706" y="785813"/>
            <a:ext cx="9144003" cy="43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/>
          <p:nvPr/>
        </p:nvSpPr>
        <p:spPr>
          <a:xfrm>
            <a:off x="0" y="0"/>
            <a:ext cx="9144000" cy="28656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2"/>
          <p:cNvSpPr/>
          <p:nvPr/>
        </p:nvSpPr>
        <p:spPr>
          <a:xfrm>
            <a:off x="0" y="-6822"/>
            <a:ext cx="9144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2"/>
          <p:cNvSpPr/>
          <p:nvPr/>
        </p:nvSpPr>
        <p:spPr>
          <a:xfrm>
            <a:off x="-9206" y="-6822"/>
            <a:ext cx="1971900" cy="7944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2"/>
          <p:cNvPicPr preferRelativeResize="0"/>
          <p:nvPr/>
        </p:nvPicPr>
        <p:blipFill rotWithShape="1">
          <a:blip r:embed="rId2">
            <a:alphaModFix amt="4000"/>
          </a:blip>
          <a:srcRect b="0" l="0" r="0" t="15275"/>
          <a:stretch/>
        </p:blipFill>
        <p:spPr>
          <a:xfrm>
            <a:off x="7706" y="785813"/>
            <a:ext cx="9144003" cy="435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Slide">
  <p:cSld name="9_Title Slide">
    <p:bg>
      <p:bgPr>
        <a:solidFill>
          <a:srgbClr val="002B5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3"/>
          <p:cNvPicPr preferRelativeResize="0"/>
          <p:nvPr/>
        </p:nvPicPr>
        <p:blipFill rotWithShape="1">
          <a:blip r:embed="rId2">
            <a:alphaModFix amt="4000"/>
          </a:blip>
          <a:srcRect b="0" l="0" r="0" t="0"/>
          <a:stretch/>
        </p:blipFill>
        <p:spPr>
          <a:xfrm>
            <a:off x="7706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Slide">
  <p:cSld name="10_Title Sli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4"/>
          <p:cNvSpPr/>
          <p:nvPr/>
        </p:nvSpPr>
        <p:spPr>
          <a:xfrm>
            <a:off x="0" y="787429"/>
            <a:ext cx="9144000" cy="43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4"/>
          <p:cNvSpPr/>
          <p:nvPr/>
        </p:nvSpPr>
        <p:spPr>
          <a:xfrm>
            <a:off x="0" y="1831638"/>
            <a:ext cx="9144000" cy="26832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4"/>
          <p:cNvSpPr/>
          <p:nvPr/>
        </p:nvSpPr>
        <p:spPr>
          <a:xfrm>
            <a:off x="0" y="-6822"/>
            <a:ext cx="9144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4"/>
          <p:cNvSpPr/>
          <p:nvPr/>
        </p:nvSpPr>
        <p:spPr>
          <a:xfrm>
            <a:off x="-9206" y="-6822"/>
            <a:ext cx="1971900" cy="7944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4"/>
          <p:cNvPicPr preferRelativeResize="0"/>
          <p:nvPr/>
        </p:nvPicPr>
        <p:blipFill rotWithShape="1">
          <a:blip r:embed="rId2">
            <a:alphaModFix amt="4000"/>
          </a:blip>
          <a:srcRect b="25" l="0" r="0" t="15279"/>
          <a:stretch/>
        </p:blipFill>
        <p:spPr>
          <a:xfrm>
            <a:off x="7706" y="785813"/>
            <a:ext cx="9144003" cy="43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Slide">
  <p:cSld name="12_Title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5"/>
          <p:cNvSpPr/>
          <p:nvPr/>
        </p:nvSpPr>
        <p:spPr>
          <a:xfrm>
            <a:off x="0" y="767833"/>
            <a:ext cx="9144000" cy="437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5"/>
          <p:cNvPicPr preferRelativeResize="0"/>
          <p:nvPr/>
        </p:nvPicPr>
        <p:blipFill rotWithShape="1">
          <a:blip r:embed="rId2">
            <a:alphaModFix amt="4000"/>
          </a:blip>
          <a:srcRect b="-348" l="0" r="0" t="15278"/>
          <a:stretch/>
        </p:blipFill>
        <p:spPr>
          <a:xfrm>
            <a:off x="-3150" y="787425"/>
            <a:ext cx="9144003" cy="4375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5"/>
          <p:cNvSpPr/>
          <p:nvPr/>
        </p:nvSpPr>
        <p:spPr>
          <a:xfrm>
            <a:off x="0" y="-6822"/>
            <a:ext cx="9144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5"/>
          <p:cNvSpPr/>
          <p:nvPr/>
        </p:nvSpPr>
        <p:spPr>
          <a:xfrm>
            <a:off x="-9206" y="-6822"/>
            <a:ext cx="1971900" cy="7944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Slide">
  <p:cSld name="11_Title Slid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/>
          <p:nvPr/>
        </p:nvSpPr>
        <p:spPr>
          <a:xfrm>
            <a:off x="0" y="767833"/>
            <a:ext cx="9144000" cy="4375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 amt="4000"/>
          </a:blip>
          <a:srcRect b="0" l="0" r="0" t="15497"/>
          <a:stretch/>
        </p:blipFill>
        <p:spPr>
          <a:xfrm>
            <a:off x="7706" y="796969"/>
            <a:ext cx="9144003" cy="434653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6"/>
          <p:cNvSpPr/>
          <p:nvPr/>
        </p:nvSpPr>
        <p:spPr>
          <a:xfrm>
            <a:off x="0" y="-6822"/>
            <a:ext cx="91440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-9206" y="-6822"/>
            <a:ext cx="1971900" cy="7944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Slide">
  <p:cSld name="14_Title Slid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7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Slide">
  <p:cSld name="16_Title Slid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8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Title Slide">
  <p:cSld name="22_Title Slid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9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Slide">
  <p:cSld name="17_Title Slid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40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Title Slide">
  <p:cSld name="18_Title Slid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Title Slide">
  <p:cSld name="19_Title Slid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42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>
  <p:cSld name="13_Title Slid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/>
          <p:nvPr/>
        </p:nvSpPr>
        <p:spPr>
          <a:xfrm>
            <a:off x="0" y="767833"/>
            <a:ext cx="9144000" cy="437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3"/>
          <p:cNvSpPr/>
          <p:nvPr/>
        </p:nvSpPr>
        <p:spPr>
          <a:xfrm>
            <a:off x="1962635" y="-6822"/>
            <a:ext cx="7181400" cy="8037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3"/>
          <p:cNvSpPr/>
          <p:nvPr/>
        </p:nvSpPr>
        <p:spPr>
          <a:xfrm>
            <a:off x="-9206" y="-6822"/>
            <a:ext cx="1971900" cy="7944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43"/>
          <p:cNvPicPr preferRelativeResize="0"/>
          <p:nvPr/>
        </p:nvPicPr>
        <p:blipFill rotWithShape="1">
          <a:blip r:embed="rId2">
            <a:alphaModFix amt="3000"/>
          </a:blip>
          <a:srcRect b="0" l="0" r="0" t="15275"/>
          <a:stretch/>
        </p:blipFill>
        <p:spPr>
          <a:xfrm>
            <a:off x="7706" y="785813"/>
            <a:ext cx="9144003" cy="435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Slide">
  <p:cSld name="15_Title Slid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698631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44"/>
          <p:cNvPicPr preferRelativeResize="0"/>
          <p:nvPr/>
        </p:nvPicPr>
        <p:blipFill rotWithShape="1">
          <a:blip r:embed="rId2">
            <a:alphaModFix amt="3000"/>
          </a:blip>
          <a:srcRect b="0" l="0" r="0" t="0"/>
          <a:stretch/>
        </p:blipFill>
        <p:spPr>
          <a:xfrm>
            <a:off x="7706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Title Slide">
  <p:cSld name="20_Title Slid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45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Title Slide">
  <p:cSld name="21_Title Slide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"/>
          <p:cNvSpPr/>
          <p:nvPr/>
        </p:nvSpPr>
        <p:spPr>
          <a:xfrm>
            <a:off x="6155908" y="0"/>
            <a:ext cx="2985900" cy="51435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6"/>
          <p:cNvSpPr/>
          <p:nvPr/>
        </p:nvSpPr>
        <p:spPr>
          <a:xfrm>
            <a:off x="0" y="0"/>
            <a:ext cx="2979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46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_Title Slide">
  <p:cSld name="25_Title Slide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7"/>
          <p:cNvSpPr/>
          <p:nvPr/>
        </p:nvSpPr>
        <p:spPr>
          <a:xfrm>
            <a:off x="5529261" y="0"/>
            <a:ext cx="3615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47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7"/>
          <p:cNvSpPr/>
          <p:nvPr/>
        </p:nvSpPr>
        <p:spPr>
          <a:xfrm>
            <a:off x="0" y="0"/>
            <a:ext cx="5529300" cy="51435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"/>
          <p:cNvSpPr/>
          <p:nvPr/>
        </p:nvSpPr>
        <p:spPr>
          <a:xfrm>
            <a:off x="6094476" y="1143"/>
            <a:ext cx="3049500" cy="5143500"/>
          </a:xfrm>
          <a:prstGeom prst="rect">
            <a:avLst/>
          </a:prstGeom>
          <a:solidFill>
            <a:srgbClr val="028EC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48"/>
          <p:cNvPicPr preferRelativeResize="0"/>
          <p:nvPr/>
        </p:nvPicPr>
        <p:blipFill>
          <a:blip r:embed="rId2">
            <a:alphaModFix amt="4000"/>
          </a:blip>
          <a:stretch>
            <a:fillRect/>
          </a:stretch>
        </p:blipFill>
        <p:spPr>
          <a:xfrm>
            <a:off x="4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8"/>
          <p:cNvSpPr/>
          <p:nvPr/>
        </p:nvSpPr>
        <p:spPr>
          <a:xfrm>
            <a:off x="3033522" y="0"/>
            <a:ext cx="3060900" cy="25443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8"/>
          <p:cNvSpPr/>
          <p:nvPr/>
        </p:nvSpPr>
        <p:spPr>
          <a:xfrm>
            <a:off x="0" y="2544318"/>
            <a:ext cx="3033600" cy="25923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_Title Slide">
  <p:cSld name="24_Title Slid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_Title Slide">
  <p:cSld name="26_Title Slide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0"/>
          <p:cNvSpPr/>
          <p:nvPr/>
        </p:nvSpPr>
        <p:spPr>
          <a:xfrm>
            <a:off x="0" y="0"/>
            <a:ext cx="51864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0"/>
          <p:cNvSpPr/>
          <p:nvPr/>
        </p:nvSpPr>
        <p:spPr>
          <a:xfrm>
            <a:off x="5186363" y="0"/>
            <a:ext cx="39576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50"/>
          <p:cNvPicPr preferRelativeResize="0"/>
          <p:nvPr/>
        </p:nvPicPr>
        <p:blipFill rotWithShape="1">
          <a:blip r:embed="rId2">
            <a:alphaModFix amt="4000"/>
          </a:blip>
          <a:srcRect b="0" l="0" r="43281" t="0"/>
          <a:stretch/>
        </p:blipFill>
        <p:spPr>
          <a:xfrm>
            <a:off x="7708" y="0"/>
            <a:ext cx="518636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Title Slide">
  <p:cSld name="27_Title Slid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_Title Slide">
  <p:cSld name="23_Title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2"/>
          <p:cNvCxnSpPr/>
          <p:nvPr/>
        </p:nvCxnSpPr>
        <p:spPr>
          <a:xfrm>
            <a:off x="6429134" y="1625714"/>
            <a:ext cx="0" cy="25311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52"/>
          <p:cNvSpPr/>
          <p:nvPr/>
        </p:nvSpPr>
        <p:spPr>
          <a:xfrm>
            <a:off x="0" y="4926788"/>
            <a:ext cx="9144000" cy="2166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54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771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54"/>
          <p:cNvSpPr/>
          <p:nvPr/>
        </p:nvSpPr>
        <p:spPr>
          <a:xfrm>
            <a:off x="0" y="4926788"/>
            <a:ext cx="9144000" cy="216600"/>
          </a:xfrm>
          <a:prstGeom prst="rect">
            <a:avLst/>
          </a:prstGeom>
          <a:gradFill>
            <a:gsLst>
              <a:gs pos="0">
                <a:srgbClr val="5648B7"/>
              </a:gs>
              <a:gs pos="67000">
                <a:srgbClr val="002B56"/>
              </a:gs>
              <a:gs pos="100000">
                <a:srgbClr val="002B56"/>
              </a:gs>
            </a:gsLst>
            <a:lin ang="2700006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5"/>
          <p:cNvPicPr preferRelativeResize="0"/>
          <p:nvPr/>
        </p:nvPicPr>
        <p:blipFill rotWithShape="1">
          <a:blip r:embed="rId2">
            <a:alphaModFix amt="4000"/>
          </a:blip>
          <a:srcRect b="0" l="0" r="0" t="0"/>
          <a:stretch/>
        </p:blipFill>
        <p:spPr>
          <a:xfrm>
            <a:off x="770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5"/>
          <p:cNvSpPr/>
          <p:nvPr/>
        </p:nvSpPr>
        <p:spPr>
          <a:xfrm>
            <a:off x="4926330" y="3640454"/>
            <a:ext cx="4217670" cy="1503046"/>
          </a:xfrm>
          <a:custGeom>
            <a:rect b="b" l="l" r="r" t="t"/>
            <a:pathLst>
              <a:path extrusionOk="0" h="2004061" w="5623560">
                <a:moveTo>
                  <a:pt x="0" y="2004061"/>
                </a:moveTo>
                <a:lnTo>
                  <a:pt x="3032759" y="0"/>
                </a:lnTo>
                <a:lnTo>
                  <a:pt x="5623560" y="2004061"/>
                </a:lnTo>
                <a:lnTo>
                  <a:pt x="0" y="2004061"/>
                </a:lnTo>
                <a:close/>
              </a:path>
            </a:pathLst>
          </a:custGeom>
          <a:solidFill>
            <a:srgbClr val="5648B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1 1 1 2 1">
  <p:cSld name="TITLE_1_1_2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7" name="Google Shape;18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52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54.xml"/><Relationship Id="rId3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34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i="0" sz="2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sz="9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•"/>
              <a:defRPr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–"/>
              <a:defRPr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i="0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–"/>
              <a:defRPr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»"/>
              <a:defRPr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•"/>
              <a:defRPr i="0" sz="1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Font typeface="Poppins"/>
              <a:buNone/>
              <a:defRPr i="0" sz="9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spcBef>
                <a:spcPts val="0"/>
              </a:spcBef>
              <a:buNone/>
              <a:defRPr i="0" sz="6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3" name="Google Shape;73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1" r:id="rId31"/>
    <p:sldLayoutId id="2147483702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9"/>
          <p:cNvSpPr/>
          <p:nvPr/>
        </p:nvSpPr>
        <p:spPr>
          <a:xfrm>
            <a:off x="244283" y="209550"/>
            <a:ext cx="848680" cy="568905"/>
          </a:xfrm>
          <a:custGeom>
            <a:rect b="b" l="l" r="r" t="t"/>
            <a:pathLst>
              <a:path extrusionOk="0" h="1137809" w="1697359">
                <a:moveTo>
                  <a:pt x="0" y="0"/>
                </a:moveTo>
                <a:lnTo>
                  <a:pt x="1697359" y="0"/>
                </a:lnTo>
                <a:lnTo>
                  <a:pt x="1697359" y="1137809"/>
                </a:lnTo>
                <a:lnTo>
                  <a:pt x="0" y="1137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449" r="0" t="0"/>
            </a:stretch>
          </a:blipFill>
          <a:ln>
            <a:noFill/>
          </a:ln>
        </p:spPr>
      </p:sp>
      <p:sp>
        <p:nvSpPr>
          <p:cNvPr id="193" name="Google Shape;193;p59"/>
          <p:cNvSpPr txBox="1"/>
          <p:nvPr/>
        </p:nvSpPr>
        <p:spPr>
          <a:xfrm>
            <a:off x="514350" y="2093150"/>
            <a:ext cx="62466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Innovating With Google Cloud Hackathon Pitch Deck</a:t>
            </a:r>
            <a:endParaRPr sz="900"/>
          </a:p>
        </p:txBody>
      </p:sp>
      <p:sp>
        <p:nvSpPr>
          <p:cNvPr id="194" name="Google Shape;194;p59"/>
          <p:cNvSpPr txBox="1"/>
          <p:nvPr/>
        </p:nvSpPr>
        <p:spPr>
          <a:xfrm>
            <a:off x="514350" y="3030249"/>
            <a:ext cx="59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41C9B9"/>
                </a:solidFill>
                <a:latin typeface="Poppins"/>
                <a:ea typeface="Poppins"/>
                <a:cs typeface="Poppins"/>
                <a:sym typeface="Poppins"/>
              </a:rPr>
              <a:t>TenaTalk</a:t>
            </a:r>
            <a:endParaRPr sz="2100"/>
          </a:p>
        </p:txBody>
      </p:sp>
      <p:grpSp>
        <p:nvGrpSpPr>
          <p:cNvPr id="195" name="Google Shape;195;p59"/>
          <p:cNvGrpSpPr/>
          <p:nvPr/>
        </p:nvGrpSpPr>
        <p:grpSpPr>
          <a:xfrm>
            <a:off x="0" y="3416113"/>
            <a:ext cx="4198577" cy="133837"/>
            <a:chOff x="0" y="-38100"/>
            <a:chExt cx="2211640" cy="70500"/>
          </a:xfrm>
        </p:grpSpPr>
        <p:sp>
          <p:nvSpPr>
            <p:cNvPr id="196" name="Google Shape;196;p59"/>
            <p:cNvSpPr/>
            <p:nvPr/>
          </p:nvSpPr>
          <p:spPr>
            <a:xfrm>
              <a:off x="0" y="0"/>
              <a:ext cx="2211640" cy="32334"/>
            </a:xfrm>
            <a:custGeom>
              <a:rect b="b" l="l" r="r" t="t"/>
              <a:pathLst>
                <a:path extrusionOk="0" h="32334" w="2211640">
                  <a:moveTo>
                    <a:pt x="0" y="0"/>
                  </a:moveTo>
                  <a:lnTo>
                    <a:pt x="2211640" y="0"/>
                  </a:lnTo>
                  <a:lnTo>
                    <a:pt x="2211640" y="32334"/>
                  </a:lnTo>
                  <a:lnTo>
                    <a:pt x="0" y="32334"/>
                  </a:lnTo>
                  <a:close/>
                </a:path>
              </a:pathLst>
            </a:custGeom>
            <a:solidFill>
              <a:srgbClr val="0DDC92"/>
            </a:solidFill>
            <a:ln>
              <a:noFill/>
            </a:ln>
          </p:spPr>
        </p:sp>
        <p:sp>
          <p:nvSpPr>
            <p:cNvPr id="197" name="Google Shape;197;p59"/>
            <p:cNvSpPr txBox="1"/>
            <p:nvPr/>
          </p:nvSpPr>
          <p:spPr>
            <a:xfrm>
              <a:off x="0" y="-38100"/>
              <a:ext cx="2211600" cy="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0"/>
          <p:cNvSpPr/>
          <p:nvPr/>
        </p:nvSpPr>
        <p:spPr>
          <a:xfrm>
            <a:off x="-561759" y="0"/>
            <a:ext cx="22602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60"/>
          <p:cNvPicPr preferRelativeResize="0"/>
          <p:nvPr/>
        </p:nvPicPr>
        <p:blipFill rotWithShape="1">
          <a:blip r:embed="rId3">
            <a:alphaModFix amt="70000"/>
          </a:blip>
          <a:srcRect b="11132" l="13421" r="52453" t="11557"/>
          <a:stretch/>
        </p:blipFill>
        <p:spPr>
          <a:xfrm>
            <a:off x="-561975" y="11"/>
            <a:ext cx="2270325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0"/>
          <p:cNvSpPr txBox="1"/>
          <p:nvPr/>
        </p:nvSpPr>
        <p:spPr>
          <a:xfrm>
            <a:off x="2237320" y="226300"/>
            <a:ext cx="44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2549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 sz="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5" name="Google Shape;205;p60"/>
          <p:cNvGrpSpPr/>
          <p:nvPr/>
        </p:nvGrpSpPr>
        <p:grpSpPr>
          <a:xfrm>
            <a:off x="2268274" y="573894"/>
            <a:ext cx="1610752" cy="121877"/>
            <a:chOff x="0" y="-38100"/>
            <a:chExt cx="2898600" cy="64200"/>
          </a:xfrm>
        </p:grpSpPr>
        <p:sp>
          <p:nvSpPr>
            <p:cNvPr id="206" name="Google Shape;206;p60"/>
            <p:cNvSpPr/>
            <p:nvPr/>
          </p:nvSpPr>
          <p:spPr>
            <a:xfrm>
              <a:off x="0" y="0"/>
              <a:ext cx="2898498" cy="26089"/>
            </a:xfrm>
            <a:custGeom>
              <a:rect b="b" l="l" r="r" t="t"/>
              <a:pathLst>
                <a:path extrusionOk="0" h="26089" w="2898498">
                  <a:moveTo>
                    <a:pt x="0" y="0"/>
                  </a:moveTo>
                  <a:lnTo>
                    <a:pt x="2898498" y="0"/>
                  </a:lnTo>
                  <a:lnTo>
                    <a:pt x="2898498" y="26089"/>
                  </a:lnTo>
                  <a:lnTo>
                    <a:pt x="0" y="26089"/>
                  </a:lnTo>
                  <a:close/>
                </a:path>
              </a:pathLst>
            </a:custGeom>
            <a:solidFill>
              <a:srgbClr val="0DDC92"/>
            </a:solidFill>
            <a:ln>
              <a:noFill/>
            </a:ln>
          </p:spPr>
        </p:sp>
        <p:sp>
          <p:nvSpPr>
            <p:cNvPr id="207" name="Google Shape;207;p60"/>
            <p:cNvSpPr txBox="1"/>
            <p:nvPr/>
          </p:nvSpPr>
          <p:spPr>
            <a:xfrm>
              <a:off x="0" y="-38100"/>
              <a:ext cx="2898600" cy="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60"/>
          <p:cNvSpPr txBox="1"/>
          <p:nvPr/>
        </p:nvSpPr>
        <p:spPr>
          <a:xfrm>
            <a:off x="2410025" y="1107950"/>
            <a:ext cx="5919900" cy="23487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580000" dist="104775">
              <a:srgbClr val="000000">
                <a:alpha val="66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Poppins"/>
                <a:ea typeface="Poppins"/>
                <a:cs typeface="Poppins"/>
                <a:sym typeface="Poppins"/>
              </a:rPr>
              <a:t>Critical Communication failure in the Operating Room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/>
              <a:t>In the OR: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No external translators are allowed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Clinicians cannot take chances and delay surgery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Patients cannot express last-minute concerns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❖"/>
            </a:pPr>
            <a:r>
              <a:rPr lang="en" sz="1200"/>
              <a:t>Anesthesiologists/Anesthetist cannot confirm critical safety questions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latin typeface="Poppins"/>
                <a:ea typeface="Poppins"/>
                <a:cs typeface="Poppins"/>
                <a:sym typeface="Poppins"/>
              </a:rPr>
              <a:t>In the most critical moment of care – communication collapses.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" name="Google Shape;209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0025" y="1107950"/>
            <a:ext cx="478875" cy="47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1"/>
          <p:cNvSpPr/>
          <p:nvPr/>
        </p:nvSpPr>
        <p:spPr>
          <a:xfrm>
            <a:off x="-561759" y="0"/>
            <a:ext cx="22602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61"/>
          <p:cNvPicPr preferRelativeResize="0"/>
          <p:nvPr/>
        </p:nvPicPr>
        <p:blipFill rotWithShape="1">
          <a:blip r:embed="rId3">
            <a:alphaModFix amt="70000"/>
          </a:blip>
          <a:srcRect b="11132" l="13421" r="52453" t="11557"/>
          <a:stretch/>
        </p:blipFill>
        <p:spPr>
          <a:xfrm>
            <a:off x="-561975" y="11"/>
            <a:ext cx="2270325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61"/>
          <p:cNvSpPr txBox="1"/>
          <p:nvPr/>
        </p:nvSpPr>
        <p:spPr>
          <a:xfrm>
            <a:off x="2237320" y="226300"/>
            <a:ext cx="44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2549"/>
                </a:solidFill>
                <a:latin typeface="Poppins"/>
                <a:ea typeface="Poppins"/>
                <a:cs typeface="Poppins"/>
                <a:sym typeface="Poppins"/>
              </a:rPr>
              <a:t>Our Solution: TenaTalk</a:t>
            </a:r>
            <a:endParaRPr sz="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7" name="Google Shape;217;p61"/>
          <p:cNvGrpSpPr/>
          <p:nvPr/>
        </p:nvGrpSpPr>
        <p:grpSpPr>
          <a:xfrm>
            <a:off x="2268274" y="573894"/>
            <a:ext cx="1610752" cy="121877"/>
            <a:chOff x="0" y="-38100"/>
            <a:chExt cx="2898600" cy="64200"/>
          </a:xfrm>
        </p:grpSpPr>
        <p:sp>
          <p:nvSpPr>
            <p:cNvPr id="218" name="Google Shape;218;p61"/>
            <p:cNvSpPr/>
            <p:nvPr/>
          </p:nvSpPr>
          <p:spPr>
            <a:xfrm>
              <a:off x="0" y="0"/>
              <a:ext cx="2898498" cy="26089"/>
            </a:xfrm>
            <a:custGeom>
              <a:rect b="b" l="l" r="r" t="t"/>
              <a:pathLst>
                <a:path extrusionOk="0" h="26089" w="2898498">
                  <a:moveTo>
                    <a:pt x="0" y="0"/>
                  </a:moveTo>
                  <a:lnTo>
                    <a:pt x="2898498" y="0"/>
                  </a:lnTo>
                  <a:lnTo>
                    <a:pt x="2898498" y="26089"/>
                  </a:lnTo>
                  <a:lnTo>
                    <a:pt x="0" y="26089"/>
                  </a:lnTo>
                  <a:close/>
                </a:path>
              </a:pathLst>
            </a:custGeom>
            <a:solidFill>
              <a:srgbClr val="0DDC92"/>
            </a:solidFill>
            <a:ln>
              <a:noFill/>
            </a:ln>
          </p:spPr>
        </p:sp>
        <p:sp>
          <p:nvSpPr>
            <p:cNvPr id="219" name="Google Shape;219;p61"/>
            <p:cNvSpPr txBox="1"/>
            <p:nvPr/>
          </p:nvSpPr>
          <p:spPr>
            <a:xfrm>
              <a:off x="0" y="-38100"/>
              <a:ext cx="2898600" cy="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61"/>
          <p:cNvSpPr txBox="1"/>
          <p:nvPr/>
        </p:nvSpPr>
        <p:spPr>
          <a:xfrm>
            <a:off x="2410025" y="1107950"/>
            <a:ext cx="5919900" cy="258270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7020000" dist="123825">
              <a:srgbClr val="000000">
                <a:alpha val="69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 near real-time medical translation assistant:</a:t>
            </a:r>
            <a:endParaRPr b="1" sz="1200"/>
          </a:p>
          <a:p>
            <a:pPr indent="-3048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Poppins"/>
              <a:buAutoNum type="arabicPeriod"/>
            </a:pPr>
            <a:r>
              <a:rPr lang="en" sz="1200"/>
              <a:t>TenaTalk is a text and voice-based medical translation assistant designed specifically for surgery, anesthesia, and emergency care.</a:t>
            </a:r>
            <a:endParaRPr sz="1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Patient or clinician talk naturally in their own language.</a:t>
            </a:r>
            <a:endParaRPr sz="1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Speech-to-text, translation, and text-to-speech.</a:t>
            </a:r>
            <a:endParaRPr sz="1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Built for Amharic, Somali, Afaan Oromo, and English.</a:t>
            </a:r>
            <a:endParaRPr sz="1200"/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Fast, portable, and OR-friendly workflow.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2"/>
          <p:cNvSpPr/>
          <p:nvPr/>
        </p:nvSpPr>
        <p:spPr>
          <a:xfrm>
            <a:off x="-561759" y="0"/>
            <a:ext cx="22602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62"/>
          <p:cNvPicPr preferRelativeResize="0"/>
          <p:nvPr/>
        </p:nvPicPr>
        <p:blipFill rotWithShape="1">
          <a:blip r:embed="rId3">
            <a:alphaModFix amt="70000"/>
          </a:blip>
          <a:srcRect b="11132" l="13421" r="52453" t="11557"/>
          <a:stretch/>
        </p:blipFill>
        <p:spPr>
          <a:xfrm>
            <a:off x="-561975" y="11"/>
            <a:ext cx="2270325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62"/>
          <p:cNvSpPr txBox="1"/>
          <p:nvPr/>
        </p:nvSpPr>
        <p:spPr>
          <a:xfrm>
            <a:off x="2237326" y="226300"/>
            <a:ext cx="541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2549"/>
                </a:solidFill>
                <a:latin typeface="Poppins"/>
                <a:ea typeface="Poppins"/>
                <a:cs typeface="Poppins"/>
                <a:sym typeface="Poppins"/>
              </a:rPr>
              <a:t>Product Architecture &amp; Design</a:t>
            </a:r>
            <a:endParaRPr sz="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8" name="Google Shape;228;p62"/>
          <p:cNvGrpSpPr/>
          <p:nvPr/>
        </p:nvGrpSpPr>
        <p:grpSpPr>
          <a:xfrm>
            <a:off x="2268274" y="573894"/>
            <a:ext cx="1610752" cy="121877"/>
            <a:chOff x="0" y="-38100"/>
            <a:chExt cx="2898600" cy="64200"/>
          </a:xfrm>
        </p:grpSpPr>
        <p:sp>
          <p:nvSpPr>
            <p:cNvPr id="229" name="Google Shape;229;p62"/>
            <p:cNvSpPr/>
            <p:nvPr/>
          </p:nvSpPr>
          <p:spPr>
            <a:xfrm>
              <a:off x="0" y="0"/>
              <a:ext cx="2898498" cy="26089"/>
            </a:xfrm>
            <a:custGeom>
              <a:rect b="b" l="l" r="r" t="t"/>
              <a:pathLst>
                <a:path extrusionOk="0" h="26089" w="2898498">
                  <a:moveTo>
                    <a:pt x="0" y="0"/>
                  </a:moveTo>
                  <a:lnTo>
                    <a:pt x="2898498" y="0"/>
                  </a:lnTo>
                  <a:lnTo>
                    <a:pt x="2898498" y="26089"/>
                  </a:lnTo>
                  <a:lnTo>
                    <a:pt x="0" y="26089"/>
                  </a:lnTo>
                  <a:close/>
                </a:path>
              </a:pathLst>
            </a:custGeom>
            <a:solidFill>
              <a:srgbClr val="0DDC92"/>
            </a:solidFill>
            <a:ln>
              <a:noFill/>
            </a:ln>
          </p:spPr>
        </p:sp>
        <p:sp>
          <p:nvSpPr>
            <p:cNvPr id="230" name="Google Shape;230;p62"/>
            <p:cNvSpPr txBox="1"/>
            <p:nvPr/>
          </p:nvSpPr>
          <p:spPr>
            <a:xfrm>
              <a:off x="0" y="-38100"/>
              <a:ext cx="2898600" cy="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62"/>
          <p:cNvSpPr txBox="1"/>
          <p:nvPr/>
        </p:nvSpPr>
        <p:spPr>
          <a:xfrm>
            <a:off x="2361500" y="913850"/>
            <a:ext cx="5919900" cy="41067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6240000" dist="114300">
              <a:srgbClr val="000000">
                <a:alpha val="68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How It Works:</a:t>
            </a:r>
            <a:endParaRPr b="1"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AutoNum type="arabicPeriod"/>
            </a:pPr>
            <a:r>
              <a:rPr lang="en" sz="1200"/>
              <a:t>Record patient or provider speech.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AutoNum type="arabicPeriod"/>
            </a:pPr>
            <a:r>
              <a:rPr lang="en" sz="1200"/>
              <a:t>Convert speech → text using Google STT.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AutoNum type="arabicPeriod"/>
            </a:pPr>
            <a:r>
              <a:rPr lang="en" sz="1200"/>
              <a:t>Translate using Google Translate API.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AutoNum type="arabicPeriod"/>
            </a:pPr>
            <a:r>
              <a:rPr lang="en" sz="1200"/>
              <a:t>Medical-aware enhancements via Gemini.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AutoNum type="arabicPeriod"/>
            </a:pPr>
            <a:r>
              <a:rPr lang="en" sz="1200"/>
              <a:t>Output voice in target language using TTS.</a:t>
            </a:r>
            <a:endParaRPr sz="12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Technology Stack:</a:t>
            </a:r>
            <a:endParaRPr b="1" sz="12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★"/>
            </a:pPr>
            <a:r>
              <a:rPr lang="en" sz="1000"/>
              <a:t>Backend: Django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★"/>
            </a:pPr>
            <a:r>
              <a:rPr lang="en" sz="1000"/>
              <a:t>Frontend: DTL + Bootstrap + JS Recorder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★"/>
            </a:pPr>
            <a:r>
              <a:rPr lang="en" sz="1000"/>
              <a:t>Google Cloud: STT, TTS, Translate, Vertex AI (Gemini)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★"/>
            </a:pPr>
            <a:r>
              <a:rPr lang="en" sz="1000"/>
              <a:t>Deployment: Cloud Run / GKE</a:t>
            </a:r>
            <a:endParaRPr sz="1000"/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Char char="★"/>
            </a:pPr>
            <a:r>
              <a:rPr lang="en" sz="1000"/>
              <a:t>Additional: ffmpeg for audio conversion</a:t>
            </a:r>
            <a:endParaRPr sz="10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3"/>
          <p:cNvSpPr/>
          <p:nvPr/>
        </p:nvSpPr>
        <p:spPr>
          <a:xfrm>
            <a:off x="-561759" y="0"/>
            <a:ext cx="2260200" cy="5143500"/>
          </a:xfrm>
          <a:prstGeom prst="rect">
            <a:avLst/>
          </a:prstGeom>
          <a:solidFill>
            <a:srgbClr val="564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63"/>
          <p:cNvPicPr preferRelativeResize="0"/>
          <p:nvPr/>
        </p:nvPicPr>
        <p:blipFill rotWithShape="1">
          <a:blip r:embed="rId3">
            <a:alphaModFix amt="70000"/>
          </a:blip>
          <a:srcRect b="11132" l="13421" r="52453" t="11557"/>
          <a:stretch/>
        </p:blipFill>
        <p:spPr>
          <a:xfrm>
            <a:off x="-561975" y="11"/>
            <a:ext cx="2270325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63"/>
          <p:cNvSpPr txBox="1"/>
          <p:nvPr/>
        </p:nvSpPr>
        <p:spPr>
          <a:xfrm>
            <a:off x="2237325" y="226300"/>
            <a:ext cx="6359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2549"/>
                </a:solidFill>
                <a:latin typeface="Poppins"/>
                <a:ea typeface="Poppins"/>
                <a:cs typeface="Poppins"/>
                <a:sym typeface="Poppins"/>
              </a:rPr>
              <a:t>Slide 4 (Optional): Key Features, User Flow, or Prototype Preview</a:t>
            </a:r>
            <a:endParaRPr sz="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9" name="Google Shape;239;p63"/>
          <p:cNvGrpSpPr/>
          <p:nvPr/>
        </p:nvGrpSpPr>
        <p:grpSpPr>
          <a:xfrm>
            <a:off x="2235937" y="881219"/>
            <a:ext cx="1610752" cy="121877"/>
            <a:chOff x="0" y="-38100"/>
            <a:chExt cx="2898600" cy="64200"/>
          </a:xfrm>
        </p:grpSpPr>
        <p:sp>
          <p:nvSpPr>
            <p:cNvPr id="240" name="Google Shape;240;p63"/>
            <p:cNvSpPr/>
            <p:nvPr/>
          </p:nvSpPr>
          <p:spPr>
            <a:xfrm>
              <a:off x="0" y="0"/>
              <a:ext cx="2898498" cy="26089"/>
            </a:xfrm>
            <a:custGeom>
              <a:rect b="b" l="l" r="r" t="t"/>
              <a:pathLst>
                <a:path extrusionOk="0" h="26089" w="2898498">
                  <a:moveTo>
                    <a:pt x="0" y="0"/>
                  </a:moveTo>
                  <a:lnTo>
                    <a:pt x="2898498" y="0"/>
                  </a:lnTo>
                  <a:lnTo>
                    <a:pt x="2898498" y="26089"/>
                  </a:lnTo>
                  <a:lnTo>
                    <a:pt x="0" y="26089"/>
                  </a:lnTo>
                  <a:close/>
                </a:path>
              </a:pathLst>
            </a:custGeom>
            <a:solidFill>
              <a:srgbClr val="0DDC92"/>
            </a:solidFill>
            <a:ln>
              <a:noFill/>
            </a:ln>
          </p:spPr>
        </p:sp>
        <p:sp>
          <p:nvSpPr>
            <p:cNvPr id="241" name="Google Shape;241;p63"/>
            <p:cNvSpPr txBox="1"/>
            <p:nvPr/>
          </p:nvSpPr>
          <p:spPr>
            <a:xfrm>
              <a:off x="0" y="-38100"/>
              <a:ext cx="2898600" cy="6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63"/>
          <p:cNvSpPr txBox="1"/>
          <p:nvPr/>
        </p:nvSpPr>
        <p:spPr>
          <a:xfrm>
            <a:off x="2410025" y="1415275"/>
            <a:ext cx="5919900" cy="17979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6660000" dist="85725">
              <a:srgbClr val="000000">
                <a:alpha val="55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Why TenaTalk:</a:t>
            </a:r>
            <a:endParaRPr b="1"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✓"/>
            </a:pPr>
            <a:r>
              <a:rPr lang="en" sz="1200"/>
              <a:t>Eliminates language barriers in the operating room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✓"/>
            </a:pPr>
            <a:r>
              <a:rPr lang="en" sz="1200"/>
              <a:t>Patients can express last-minute concerns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✓"/>
            </a:pPr>
            <a:r>
              <a:rPr lang="en" sz="1200"/>
              <a:t>Clinicians confirm safety checks before anesthesia</a:t>
            </a:r>
            <a:endParaRPr sz="12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Poppins"/>
              <a:buChar char="✓"/>
            </a:pPr>
            <a:r>
              <a:rPr lang="en" sz="1200"/>
              <a:t> Simple recording interface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4"/>
          <p:cNvSpPr/>
          <p:nvPr/>
        </p:nvSpPr>
        <p:spPr>
          <a:xfrm>
            <a:off x="701483" y="514350"/>
            <a:ext cx="848680" cy="568905"/>
          </a:xfrm>
          <a:custGeom>
            <a:rect b="b" l="l" r="r" t="t"/>
            <a:pathLst>
              <a:path extrusionOk="0" h="1137809" w="1697359">
                <a:moveTo>
                  <a:pt x="0" y="0"/>
                </a:moveTo>
                <a:lnTo>
                  <a:pt x="1697359" y="0"/>
                </a:lnTo>
                <a:lnTo>
                  <a:pt x="1697359" y="1137809"/>
                </a:lnTo>
                <a:lnTo>
                  <a:pt x="0" y="11378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449" r="0" t="0"/>
            </a:stretch>
          </a:blipFill>
          <a:ln>
            <a:noFill/>
          </a:ln>
        </p:spPr>
      </p:sp>
      <p:grpSp>
        <p:nvGrpSpPr>
          <p:cNvPr id="248" name="Google Shape;248;p64"/>
          <p:cNvGrpSpPr/>
          <p:nvPr/>
        </p:nvGrpSpPr>
        <p:grpSpPr>
          <a:xfrm>
            <a:off x="0" y="1818093"/>
            <a:ext cx="4795425" cy="1385423"/>
            <a:chOff x="0" y="-323850"/>
            <a:chExt cx="12787800" cy="3694461"/>
          </a:xfrm>
        </p:grpSpPr>
        <p:grpSp>
          <p:nvGrpSpPr>
            <p:cNvPr id="249" name="Google Shape;249;p64"/>
            <p:cNvGrpSpPr/>
            <p:nvPr/>
          </p:nvGrpSpPr>
          <p:grpSpPr>
            <a:xfrm>
              <a:off x="0" y="3013712"/>
              <a:ext cx="11196428" cy="356899"/>
              <a:chOff x="0" y="-38100"/>
              <a:chExt cx="2211640" cy="70500"/>
            </a:xfrm>
          </p:grpSpPr>
          <p:sp>
            <p:nvSpPr>
              <p:cNvPr id="250" name="Google Shape;250;p64"/>
              <p:cNvSpPr/>
              <p:nvPr/>
            </p:nvSpPr>
            <p:spPr>
              <a:xfrm>
                <a:off x="0" y="0"/>
                <a:ext cx="2211640" cy="32334"/>
              </a:xfrm>
              <a:custGeom>
                <a:rect b="b" l="l" r="r" t="t"/>
                <a:pathLst>
                  <a:path extrusionOk="0" h="32334" w="2211640">
                    <a:moveTo>
                      <a:pt x="0" y="0"/>
                    </a:moveTo>
                    <a:lnTo>
                      <a:pt x="2211640" y="0"/>
                    </a:lnTo>
                    <a:lnTo>
                      <a:pt x="2211640" y="32334"/>
                    </a:lnTo>
                    <a:lnTo>
                      <a:pt x="0" y="32334"/>
                    </a:lnTo>
                    <a:close/>
                  </a:path>
                </a:pathLst>
              </a:custGeom>
              <a:solidFill>
                <a:srgbClr val="0DDC92"/>
              </a:solidFill>
              <a:ln>
                <a:noFill/>
              </a:ln>
            </p:spPr>
          </p:sp>
          <p:sp>
            <p:nvSpPr>
              <p:cNvPr id="251" name="Google Shape;251;p64"/>
              <p:cNvSpPr txBox="1"/>
              <p:nvPr/>
            </p:nvSpPr>
            <p:spPr>
              <a:xfrm>
                <a:off x="0" y="-38100"/>
                <a:ext cx="2211600" cy="7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2" name="Google Shape;252;p64"/>
            <p:cNvSpPr txBox="1"/>
            <p:nvPr/>
          </p:nvSpPr>
          <p:spPr>
            <a:xfrm>
              <a:off x="1371600" y="-323850"/>
              <a:ext cx="114162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57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THANK </a:t>
              </a:r>
              <a:r>
                <a:rPr b="1" i="0" lang="en" sz="5700" u="none" cap="none" strike="noStrike">
                  <a:solidFill>
                    <a:srgbClr val="0DDC92"/>
                  </a:solidFill>
                  <a:latin typeface="Poppins"/>
                  <a:ea typeface="Poppins"/>
                  <a:cs typeface="Poppins"/>
                  <a:sym typeface="Poppins"/>
                </a:rPr>
                <a:t>YOU</a:t>
              </a:r>
              <a:endParaRPr sz="700"/>
            </a:p>
          </p:txBody>
        </p:sp>
      </p:grpSp>
      <p:sp>
        <p:nvSpPr>
          <p:cNvPr id="253" name="Google Shape;253;p64"/>
          <p:cNvSpPr/>
          <p:nvPr/>
        </p:nvSpPr>
        <p:spPr>
          <a:xfrm rot="10800000">
            <a:off x="5870181" y="-226635"/>
            <a:ext cx="6547639" cy="5596770"/>
          </a:xfrm>
          <a:custGeom>
            <a:rect b="b" l="l" r="r" t="t"/>
            <a:pathLst>
              <a:path extrusionOk="0" h="11193540" w="13095277">
                <a:moveTo>
                  <a:pt x="0" y="0"/>
                </a:moveTo>
                <a:lnTo>
                  <a:pt x="13095276" y="0"/>
                </a:lnTo>
                <a:lnTo>
                  <a:pt x="13095276" y="11193540"/>
                </a:lnTo>
                <a:lnTo>
                  <a:pt x="0" y="11193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499" l="0" r="0" t="-8489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LX">
  <a:themeElements>
    <a:clrScheme name="Office">
      <a:dk1>
        <a:srgbClr val="002B56"/>
      </a:dk1>
      <a:lt1>
        <a:srgbClr val="FFFFFF"/>
      </a:lt1>
      <a:dk2>
        <a:srgbClr val="41C9B9"/>
      </a:dk2>
      <a:lt2>
        <a:srgbClr val="EEECE1"/>
      </a:lt2>
      <a:accent1>
        <a:srgbClr val="028ECA"/>
      </a:accent1>
      <a:accent2>
        <a:srgbClr val="FF5347"/>
      </a:accent2>
      <a:accent3>
        <a:srgbClr val="05F283"/>
      </a:accent3>
      <a:accent4>
        <a:srgbClr val="5647B6"/>
      </a:accent4>
      <a:accent5>
        <a:srgbClr val="FBD437"/>
      </a:accent5>
      <a:accent6>
        <a:srgbClr val="27DEF2"/>
      </a:accent6>
      <a:hlink>
        <a:srgbClr val="27DEF2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2B56"/>
      </a:dk1>
      <a:lt1>
        <a:srgbClr val="FFFFFF"/>
      </a:lt1>
      <a:dk2>
        <a:srgbClr val="028ECA"/>
      </a:dk2>
      <a:lt2>
        <a:srgbClr val="05F283"/>
      </a:lt2>
      <a:accent1>
        <a:srgbClr val="27DEF2"/>
      </a:accent1>
      <a:accent2>
        <a:srgbClr val="5648B7"/>
      </a:accent2>
      <a:accent3>
        <a:srgbClr val="FF5347"/>
      </a:accent3>
      <a:accent4>
        <a:srgbClr val="FBD437"/>
      </a:accent4>
      <a:accent5>
        <a:srgbClr val="27E8B1"/>
      </a:accent5>
      <a:accent6>
        <a:srgbClr val="BFBFBF"/>
      </a:accent6>
      <a:hlink>
        <a:srgbClr val="05F28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